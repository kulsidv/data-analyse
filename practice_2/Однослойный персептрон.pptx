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3.xml.rels" ContentType="application/vnd.openxmlformats-package.relationships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theme/theme9.xml" ContentType="application/vnd.openxmlformats-officedocument.theme+xml"/>
  <Override PartName="/ppt/theme/theme14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0.xml" ContentType="application/vnd.openxmlformats-officedocument.theme+xml"/>
  <Override PartName="/ppt/theme/theme5.xml" ContentType="application/vnd.openxmlformats-officedocument.theme+xml"/>
  <Override PartName="/ppt/theme/theme11.xml" ContentType="application/vnd.openxmlformats-officedocument.theme+xml"/>
  <Override PartName="/ppt/theme/theme6.xml" ContentType="application/vnd.openxmlformats-officedocument.theme+xml"/>
  <Override PartName="/ppt/theme/theme12.xml" ContentType="application/vnd.openxmlformats-officedocument.theme+xml"/>
  <Override PartName="/ppt/theme/theme7.xml" ContentType="application/vnd.openxmlformats-officedocument.theme+xml"/>
  <Override PartName="/ppt/theme/theme13.xml" ContentType="application/vnd.openxmlformats-officedocument.theme+xml"/>
  <Override PartName="/ppt/notesSlides/_rels/notesSlide9.xml.rels" ContentType="application/vnd.openxmlformats-package.relationships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50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52.xml.rels" ContentType="application/vnd.openxmlformats-package.relationships+xml"/>
  <Override PartName="/ppt/slideLayouts/_rels/slideLayout151.xml.rels" ContentType="application/vnd.openxmlformats-package.relationships+xml"/>
  <Override PartName="/ppt/slideLayouts/_rels/slideLayout147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5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14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55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153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9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5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15.xml.rels" ContentType="application/vnd.openxmlformats-package.relationships+xml"/>
  <Override PartName="/ppt/slideLayouts/slideLayout124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95.xml" ContentType="application/vnd.openxmlformats-officedocument.presentationml.slideLayout+xml"/>
  <Override PartName="/ppt/media/image9.png" ContentType="image/png"/>
  <Override PartName="/ppt/media/image14.png" ContentType="image/png"/>
  <Override PartName="/ppt/media/image1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wmf" ContentType="image/x-wmf"/>
  <Override PartName="/ppt/media/image2.png" ContentType="image/png"/>
  <Override PartName="/ppt/media/image7.png" ContentType="image/png"/>
  <Override PartName="/ppt/media/image12.png" ContentType="image/png"/>
  <Override PartName="/ppt/media/image11.wmf" ContentType="image/x-wmf"/>
  <Override PartName="/ppt/media/image3.png" ContentType="image/png"/>
  <Override PartName="/ppt/media/image8.png" ContentType="image/png"/>
  <Override PartName="/ppt/media/image13.png" ContentType="image/png"/>
  <Override PartName="/ppt/embeddings/oleObject1.bin" ContentType="application/vnd.openxmlformats-officedocument.oleObject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  <p:sldMasterId id="2147483804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sldImg"/>
          </p:nvPr>
        </p:nvSpPr>
        <p:spPr>
          <a:xfrm>
            <a:off x="1107000" y="812520"/>
            <a:ext cx="5345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latin typeface="Arial"/>
              </a:rPr>
              <a:t>Click to move the slide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ru-RU" sz="2000" spc="-1" strike="noStrike">
                <a:latin typeface="Arial"/>
              </a:rPr>
              <a:t>Click to edit the notes format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ru-RU" sz="1400" spc="-1" strike="noStrike">
                <a:latin typeface="Times New Roman"/>
              </a:rPr>
              <a:t>&lt;header&gt;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97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ru-RU" sz="1400" spc="-1" strike="noStrike">
                <a:latin typeface="Times New Roman"/>
              </a:rPr>
              <a:t>&lt;date/time&gt;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98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ru-RU" sz="1400" spc="-1" strike="noStrike">
                <a:latin typeface="Times New Roman"/>
              </a:rPr>
              <a:t>&lt;footer&gt;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99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3259CD75-8383-4846-8DBB-91D80A27EB3F}" type="slidenum">
              <a:rPr b="0" lang="ru-RU" sz="1400" spc="-1" strike="noStrike">
                <a:latin typeface="Times New Roman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537" name="CustomShape 3"/>
          <p:cNvSpPr/>
          <p:nvPr/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BF69297C-8317-4B54-AA09-435BAF584AF9}" type="slidenum">
              <a:rPr b="0" lang="ru-RU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ru-RU" sz="12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2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2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6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6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8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0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0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0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1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2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2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3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34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38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39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40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41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9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9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0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0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1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1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1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1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1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5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1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7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7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7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8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8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9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9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9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9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43.xml"/><Relationship Id="rId13" Type="http://schemas.openxmlformats.org/officeDocument/2006/relationships/slideLayout" Target="../slideLayouts/slideLayout14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6.xml"/><Relationship Id="rId4" Type="http://schemas.openxmlformats.org/officeDocument/2006/relationships/slideLayout" Target="../slideLayouts/slideLayout147.xml"/><Relationship Id="rId5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0.xml"/><Relationship Id="rId8" Type="http://schemas.openxmlformats.org/officeDocument/2006/relationships/slideLayout" Target="../slideLayouts/slideLayout151.xml"/><Relationship Id="rId9" Type="http://schemas.openxmlformats.org/officeDocument/2006/relationships/slideLayout" Target="../slideLayouts/slideLayout152.xml"/><Relationship Id="rId10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54.xml"/><Relationship Id="rId12" Type="http://schemas.openxmlformats.org/officeDocument/2006/relationships/slideLayout" Target="../slideLayouts/slideLayout155.xml"/><Relationship Id="rId13" Type="http://schemas.openxmlformats.org/officeDocument/2006/relationships/slideLayout" Target="../slideLayouts/slideLayout15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latin typeface="Arial"/>
              </a:rPr>
              <a:t>Click to </a:t>
            </a:r>
            <a:r>
              <a:rPr b="0" lang="ru-RU" sz="4400" spc="-1" strike="noStrike">
                <a:latin typeface="Arial"/>
              </a:rPr>
              <a:t>edit the </a:t>
            </a:r>
            <a:r>
              <a:rPr b="0" lang="ru-RU" sz="4400" spc="-1" strike="noStrike">
                <a:latin typeface="Arial"/>
              </a:rPr>
              <a:t>title </a:t>
            </a:r>
            <a:r>
              <a:rPr b="0" lang="ru-RU" sz="4400" spc="-1" strike="noStrike">
                <a:latin typeface="Arial"/>
              </a:rPr>
              <a:t>text </a:t>
            </a:r>
            <a:r>
              <a:rPr b="0" lang="ru-RU" sz="4400" spc="-1" strike="noStrike">
                <a:latin typeface="Arial"/>
              </a:rPr>
              <a:t>format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Click to edit the title text format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latin typeface="Arial"/>
              </a:rPr>
              <a:t>Click to edit the title text format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Click to edit the title text format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latin typeface="Arial"/>
              </a:rPr>
              <a:t>Click to edit the title text format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latin typeface="Arial"/>
              </a:rPr>
              <a:t>Click to edit the title text format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latin typeface="Arial"/>
              </a:rPr>
              <a:t>Click to edit the title text format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latin typeface="Arial"/>
              </a:rPr>
              <a:t>Click to edit the title text format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latin typeface="Arial"/>
              </a:rPr>
              <a:t>Click to edit the title text format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Click to edit the title text format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Click to edit the title text format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latin typeface="Arial"/>
              </a:rPr>
              <a:t>Click to edit the title text format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Click to edit the title text format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0.wmf"/><Relationship Id="rId3" Type="http://schemas.openxmlformats.org/officeDocument/2006/relationships/image" Target="../media/image11.wmf"/><Relationship Id="rId4" Type="http://schemas.openxmlformats.org/officeDocument/2006/relationships/slideLayout" Target="../slideLayouts/slideLayout6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Picture 1_0" descr=""/>
          <p:cNvPicPr/>
          <p:nvPr/>
        </p:nvPicPr>
        <p:blipFill>
          <a:blip r:embed="rId1"/>
          <a:stretch/>
        </p:blipFill>
        <p:spPr>
          <a:xfrm>
            <a:off x="979560" y="21600"/>
            <a:ext cx="6702840" cy="67251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Picture 3_0" descr=""/>
          <p:cNvPicPr/>
          <p:nvPr/>
        </p:nvPicPr>
        <p:blipFill>
          <a:blip r:embed="rId1"/>
          <a:stretch/>
        </p:blipFill>
        <p:spPr>
          <a:xfrm>
            <a:off x="1334520" y="217440"/>
            <a:ext cx="6338160" cy="65646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Picture 23" descr=""/>
          <p:cNvPicPr/>
          <p:nvPr/>
        </p:nvPicPr>
        <p:blipFill>
          <a:blip r:embed="rId1"/>
          <a:stretch/>
        </p:blipFill>
        <p:spPr>
          <a:xfrm>
            <a:off x="323640" y="662040"/>
            <a:ext cx="8656200" cy="5226840"/>
          </a:xfrm>
          <a:prstGeom prst="rect">
            <a:avLst/>
          </a:prstGeom>
          <a:ln>
            <a:noFill/>
          </a:ln>
        </p:spPr>
      </p:pic>
      <p:sp>
        <p:nvSpPr>
          <p:cNvPr id="503" name="CustomShape 1"/>
          <p:cNvSpPr/>
          <p:nvPr/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</a:pPr>
            <a:fld id="{48B03031-FCA1-4123-9446-EE57492D7FA7}" type="slidenum">
              <a:rPr b="0" lang="ru-RU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1</a:t>
            </a:fld>
            <a:endParaRPr b="0" lang="ru-RU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Picture 2_1" descr=""/>
          <p:cNvPicPr/>
          <p:nvPr/>
        </p:nvPicPr>
        <p:blipFill>
          <a:blip r:embed="rId1"/>
          <a:stretch/>
        </p:blipFill>
        <p:spPr>
          <a:xfrm>
            <a:off x="204840" y="752400"/>
            <a:ext cx="8715600" cy="46908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Рисунок 81" descr=""/>
          <p:cNvPicPr/>
          <p:nvPr/>
        </p:nvPicPr>
        <p:blipFill>
          <a:blip r:embed="rId1"/>
          <a:stretch/>
        </p:blipFill>
        <p:spPr>
          <a:xfrm>
            <a:off x="0" y="0"/>
            <a:ext cx="9140760" cy="67903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CustomShape 1"/>
          <p:cNvSpPr/>
          <p:nvPr/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38000"/>
          </a:bodyPr>
          <a:p>
            <a:pPr algn="ctr">
              <a:lnSpc>
                <a:spcPct val="100000"/>
              </a:lnSpc>
            </a:pPr>
            <a:r>
              <a:rPr b="0" lang="ru-RU" sz="7200" spc="-1" strike="noStrike">
                <a:solidFill>
                  <a:srgbClr val="000000"/>
                </a:solidFill>
                <a:latin typeface="Calibri"/>
                <a:ea typeface="DejaVu Sans"/>
              </a:rPr>
              <a:t>Экспертная система</a:t>
            </a:r>
            <a:endParaRPr b="0" lang="ru-RU" sz="7200" spc="-1" strike="noStrike">
              <a:latin typeface="Arial"/>
            </a:endParaRPr>
          </a:p>
        </p:txBody>
      </p:sp>
      <p:pic>
        <p:nvPicPr>
          <p:cNvPr id="507" name="Picture 2_2" descr=""/>
          <p:cNvPicPr/>
          <p:nvPr/>
        </p:nvPicPr>
        <p:blipFill>
          <a:blip r:embed="rId1"/>
          <a:stretch/>
        </p:blipFill>
        <p:spPr>
          <a:xfrm>
            <a:off x="419040" y="2266920"/>
            <a:ext cx="8304120" cy="2322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Picture 2_3" descr=""/>
          <p:cNvPicPr/>
          <p:nvPr/>
        </p:nvPicPr>
        <p:blipFill>
          <a:blip r:embed="rId1"/>
          <a:stretch/>
        </p:blipFill>
        <p:spPr>
          <a:xfrm>
            <a:off x="899640" y="381960"/>
            <a:ext cx="6550920" cy="63223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Picture 2_4" descr=""/>
          <p:cNvPicPr/>
          <p:nvPr/>
        </p:nvPicPr>
        <p:blipFill>
          <a:blip r:embed="rId1"/>
          <a:stretch/>
        </p:blipFill>
        <p:spPr>
          <a:xfrm>
            <a:off x="912240" y="1124640"/>
            <a:ext cx="6970320" cy="50997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CustomShape 1"/>
          <p:cNvSpPr/>
          <p:nvPr/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0000"/>
          </a:bodyPr>
          <a:p>
            <a:pPr algn="ctr">
              <a:lnSpc>
                <a:spcPct val="100000"/>
              </a:lnSpc>
            </a:pP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Таблица истинности логического «или»</a:t>
            </a:r>
            <a:endParaRPr b="0" lang="ru-RU" sz="4400" spc="-1" strike="noStrike">
              <a:latin typeface="Arial"/>
            </a:endParaRPr>
          </a:p>
        </p:txBody>
      </p:sp>
      <p:graphicFrame>
        <p:nvGraphicFramePr>
          <p:cNvPr id="511" name="Table 2"/>
          <p:cNvGraphicFramePr/>
          <p:nvPr/>
        </p:nvGraphicFramePr>
        <p:xfrm>
          <a:off x="1547640" y="3213000"/>
          <a:ext cx="6095160" cy="1853640"/>
        </p:xfrm>
        <a:graphic>
          <a:graphicData uri="http://schemas.openxmlformats.org/drawingml/2006/table">
            <a:tbl>
              <a:tblPr/>
              <a:tblGrid>
                <a:gridCol w="2031840"/>
                <a:gridCol w="2031840"/>
                <a:gridCol w="2031840"/>
              </a:tblGrid>
              <a:tr h="3708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x[0]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x[1]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Y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3708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708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708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CustomShape 1"/>
          <p:cNvSpPr/>
          <p:nvPr/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Однослойный персептрон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513" name="Picture 3_1" descr=""/>
          <p:cNvPicPr/>
          <p:nvPr/>
        </p:nvPicPr>
        <p:blipFill>
          <a:blip r:embed="rId1"/>
          <a:stretch/>
        </p:blipFill>
        <p:spPr>
          <a:xfrm>
            <a:off x="1187640" y="1628640"/>
            <a:ext cx="7077600" cy="47847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CustomShape 1"/>
          <p:cNvSpPr/>
          <p:nvPr/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Функция активации</a:t>
            </a:r>
            <a:endParaRPr b="0" lang="ru-RU" sz="4400" spc="-1" strike="noStrike">
              <a:latin typeface="Arial"/>
            </a:endParaRPr>
          </a:p>
        </p:txBody>
      </p:sp>
      <p:graphicFrame>
        <p:nvGraphicFramePr>
          <p:cNvPr id="515" name="Object 2"/>
          <p:cNvGraphicFramePr/>
          <p:nvPr/>
        </p:nvGraphicFramePr>
        <p:xfrm>
          <a:off x="1549440" y="2781000"/>
          <a:ext cx="5464080" cy="17265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516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549440" y="2781000"/>
                    <a:ext cx="5464080" cy="1726560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</p:oleObj>
          </a:graphicData>
        </a:graphic>
      </p:graphicFrame>
      <p:pic>
        <p:nvPicPr>
          <p:cNvPr id="517" name="" descr=""/>
          <p:cNvPicPr/>
          <p:nvPr/>
        </p:nvPicPr>
        <p:blipFill>
          <a:blip r:embed="rId3"/>
          <a:stretch/>
        </p:blipFill>
        <p:spPr>
          <a:xfrm>
            <a:off x="1536840" y="2768760"/>
            <a:ext cx="5459400" cy="17258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CustomShape 1"/>
          <p:cNvSpPr/>
          <p:nvPr/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Начальная инициализация весов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519" name="CustomShape 2"/>
          <p:cNvSpPr/>
          <p:nvPr/>
        </p:nvSpPr>
        <p:spPr>
          <a:xfrm>
            <a:off x="553680" y="1964520"/>
            <a:ext cx="8034840" cy="4016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343080" indent="-342000">
              <a:lnSpc>
                <a:spcPct val="100000"/>
              </a:lnSpc>
              <a:spcBef>
                <a:spcPts val="132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6600" spc="-1" strike="noStrike">
                <a:solidFill>
                  <a:srgbClr val="000000"/>
                </a:solidFill>
                <a:latin typeface="Calibri"/>
                <a:ea typeface="DejaVu Sans"/>
              </a:rPr>
              <a:t>w0=0,</a:t>
            </a:r>
            <a:r>
              <a:rPr b="0" lang="ru-RU" sz="6600" spc="-1" strike="noStrike">
                <a:solidFill>
                  <a:srgbClr val="000000"/>
                </a:solidFill>
                <a:latin typeface="Calibri"/>
                <a:ea typeface="DejaVu Sans"/>
              </a:rPr>
              <a:t>5</a:t>
            </a:r>
            <a:endParaRPr b="0" lang="ru-RU" sz="6600" spc="-1" strike="noStrike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32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6600" spc="-1" strike="noStrike">
                <a:solidFill>
                  <a:srgbClr val="000000"/>
                </a:solidFill>
                <a:latin typeface="Calibri"/>
                <a:ea typeface="DejaVu Sans"/>
              </a:rPr>
              <a:t>w1=0,</a:t>
            </a:r>
            <a:r>
              <a:rPr b="0" lang="ru-RU" sz="6600" spc="-1" strike="noStrike">
                <a:solidFill>
                  <a:srgbClr val="000000"/>
                </a:solidFill>
                <a:latin typeface="Calibri"/>
                <a:ea typeface="DejaVu Sans"/>
              </a:rPr>
              <a:t>6</a:t>
            </a:r>
            <a:endParaRPr b="0" lang="ru-RU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CustomShape 1"/>
          <p:cNvSpPr/>
          <p:nvPr/>
        </p:nvSpPr>
        <p:spPr>
          <a:xfrm>
            <a:off x="323640" y="836640"/>
            <a:ext cx="8361360" cy="5182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x[0]=0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x[1]=0</a:t>
            </a:r>
            <a:br/>
            <a:br/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Тогда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S=w[0]*x[0]+w[1]*x[1]=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=5*0+6*0=0</a:t>
            </a:r>
            <a:br/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y=f(S)=f(0)=0    Y(0,0)=0</a:t>
            </a:r>
            <a:br/>
            <a:br/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Верно</a:t>
            </a:r>
            <a:endParaRPr b="0" lang="ru-RU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CustomShape 1"/>
          <p:cNvSpPr/>
          <p:nvPr/>
        </p:nvSpPr>
        <p:spPr>
          <a:xfrm>
            <a:off x="323640" y="836640"/>
            <a:ext cx="8361360" cy="5182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x[0]=0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x[1]=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br/>
            <a:br/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Тогда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S=w[0]*x[0]+w[1]*x[1]=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0,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5*0+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0,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6*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=0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,6</a:t>
            </a:r>
            <a:br/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y=f(S)=f(0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,6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)=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    Y(0,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)=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br/>
            <a:br/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Верно</a:t>
            </a:r>
            <a:endParaRPr b="0" lang="ru-RU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CustomShape 1"/>
          <p:cNvSpPr/>
          <p:nvPr/>
        </p:nvSpPr>
        <p:spPr>
          <a:xfrm>
            <a:off x="323640" y="836640"/>
            <a:ext cx="8361360" cy="5182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x[0]=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x[1]=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0</a:t>
            </a:r>
            <a:br/>
            <a:br/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Тогда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S=w[0]*x[0]+w[1]*x[1]=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0,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5*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+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0,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6*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0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=0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,5</a:t>
            </a:r>
            <a:br/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y=f(S)=f(0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,5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)=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0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    Y(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0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)=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br/>
            <a:br/>
            <a:r>
              <a:rPr b="0" lang="ru-RU" sz="4400" spc="-1" strike="noStrike">
                <a:solidFill>
                  <a:srgbClr val="ff0000"/>
                </a:solidFill>
                <a:latin typeface="Calibri"/>
                <a:ea typeface="DejaVu Sans"/>
              </a:rPr>
              <a:t>Ошибка!</a:t>
            </a:r>
            <a:endParaRPr b="0" lang="ru-RU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CustomShape 1"/>
          <p:cNvSpPr/>
          <p:nvPr/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Пересчёт весов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524" name="CustomShape 2"/>
          <p:cNvSpPr/>
          <p:nvPr/>
        </p:nvSpPr>
        <p:spPr>
          <a:xfrm>
            <a:off x="553680" y="1964520"/>
            <a:ext cx="8034840" cy="4016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343080" indent="-34200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w[0]:=w[0]+a*(Y-y)*x[0]=0,5+0,1=0,6</a:t>
            </a:r>
            <a:endParaRPr b="0" lang="ru-RU" sz="3600" spc="-1" strike="noStrike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w[1]:=w[1]+a*(Y-y)*x[1]=0,6+0=0,6</a:t>
            </a:r>
            <a:endParaRPr b="0" lang="ru-RU" sz="3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b="0" lang="ru-RU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CustomShape 1"/>
          <p:cNvSpPr/>
          <p:nvPr/>
        </p:nvSpPr>
        <p:spPr>
          <a:xfrm>
            <a:off x="323640" y="836640"/>
            <a:ext cx="8361360" cy="5182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x[0]=1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x[1]=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br/>
            <a:br/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Тогда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S=w[0]*x[0]+w[1]*x[1]=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0,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6*1+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0,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6*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=1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br/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y=f(S)=f(1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2)=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    Y(1,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)=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br/>
            <a:br/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Верно</a:t>
            </a:r>
            <a:endParaRPr b="0" lang="ru-RU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CustomShape 1"/>
          <p:cNvSpPr/>
          <p:nvPr/>
        </p:nvSpPr>
        <p:spPr>
          <a:xfrm>
            <a:off x="323640" y="836640"/>
            <a:ext cx="8361360" cy="5182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x[0]=0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x[1]=0</a:t>
            </a:r>
            <a:br/>
            <a:br/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Тогда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S=w[0]*x[0]+w[1]*x[1]=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0,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6*0+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0,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6*0=0</a:t>
            </a:r>
            <a:br/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y=f(S)=f(0)=0    Y(0,0)=0</a:t>
            </a:r>
            <a:br/>
            <a:br/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Верно</a:t>
            </a:r>
            <a:endParaRPr b="0" lang="ru-RU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CustomShape 1"/>
          <p:cNvSpPr/>
          <p:nvPr/>
        </p:nvSpPr>
        <p:spPr>
          <a:xfrm>
            <a:off x="323640" y="836640"/>
            <a:ext cx="8361360" cy="5182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x[0]=0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x[1]=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br/>
            <a:br/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Тогда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S=w[0]*x[0]+w[1]*x[1]=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0,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6*0+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0,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6*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=0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6</a:t>
            </a:r>
            <a:br/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y=f(S)=f(0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6)=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    Y(1,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)=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br/>
            <a:br/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Верно</a:t>
            </a:r>
            <a:endParaRPr b="0" lang="ru-RU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CustomShape 1"/>
          <p:cNvSpPr/>
          <p:nvPr/>
        </p:nvSpPr>
        <p:spPr>
          <a:xfrm>
            <a:off x="323640" y="836640"/>
            <a:ext cx="8361360" cy="5182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x[0]=1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x[1]=0</a:t>
            </a:r>
            <a:br/>
            <a:br/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Тогда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S=w[0]*x[0]+w[1]*x[1]=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0,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6*1+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0,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6*0=0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6</a:t>
            </a:r>
            <a:br/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y=f(S)=f(0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6)=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    Y(1,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)=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br/>
            <a:br/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Верно</a:t>
            </a:r>
            <a:endParaRPr b="0" lang="ru-RU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CustomShape 1"/>
          <p:cNvSpPr/>
          <p:nvPr/>
        </p:nvSpPr>
        <p:spPr>
          <a:xfrm>
            <a:off x="323640" y="836640"/>
            <a:ext cx="8361360" cy="5182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x[0]=1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x[1]=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br/>
            <a:br/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Тогда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S=w[0]*x[0]+w[1]*x[1]=</a:t>
            </a:r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0,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6*1+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0,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6*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=1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br/>
            <a:br/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y=f(S)=f(1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2)=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    Y(1,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)=</a:t>
            </a: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br/>
            <a:br/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Верно</a:t>
            </a:r>
            <a:endParaRPr b="0" lang="ru-RU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CustomShape 1"/>
          <p:cNvSpPr/>
          <p:nvPr/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Обученные веса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531" name="CustomShape 2"/>
          <p:cNvSpPr/>
          <p:nvPr/>
        </p:nvSpPr>
        <p:spPr>
          <a:xfrm>
            <a:off x="553680" y="1964520"/>
            <a:ext cx="8034840" cy="4016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343080" indent="-342000">
              <a:lnSpc>
                <a:spcPct val="100000"/>
              </a:lnSpc>
              <a:spcBef>
                <a:spcPts val="132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6600" spc="-1" strike="noStrike">
                <a:solidFill>
                  <a:srgbClr val="000000"/>
                </a:solidFill>
                <a:latin typeface="Calibri"/>
                <a:ea typeface="DejaVu Sans"/>
              </a:rPr>
              <a:t>w0=0,</a:t>
            </a:r>
            <a:r>
              <a:rPr b="0" lang="ru-RU" sz="6600" spc="-1" strike="noStrike">
                <a:solidFill>
                  <a:srgbClr val="000000"/>
                </a:solidFill>
                <a:latin typeface="Calibri"/>
                <a:ea typeface="DejaVu Sans"/>
              </a:rPr>
              <a:t>6</a:t>
            </a:r>
            <a:endParaRPr b="0" lang="ru-RU" sz="6600" spc="-1" strike="noStrike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32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6600" spc="-1" strike="noStrike">
                <a:solidFill>
                  <a:srgbClr val="000000"/>
                </a:solidFill>
                <a:latin typeface="Calibri"/>
                <a:ea typeface="DejaVu Sans"/>
              </a:rPr>
              <a:t>w1=0,</a:t>
            </a:r>
            <a:r>
              <a:rPr b="0" lang="ru-RU" sz="6600" spc="-1" strike="noStrike">
                <a:solidFill>
                  <a:srgbClr val="000000"/>
                </a:solidFill>
                <a:latin typeface="Calibri"/>
                <a:ea typeface="DejaVu Sans"/>
              </a:rPr>
              <a:t>6</a:t>
            </a:r>
            <a:endParaRPr b="0" lang="ru-RU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Picture 2_5" descr=""/>
          <p:cNvPicPr/>
          <p:nvPr/>
        </p:nvPicPr>
        <p:blipFill>
          <a:blip r:embed="rId1"/>
          <a:stretch/>
        </p:blipFill>
        <p:spPr>
          <a:xfrm>
            <a:off x="523080" y="895320"/>
            <a:ext cx="8223480" cy="57034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Picture 2_6" descr=""/>
          <p:cNvPicPr/>
          <p:nvPr/>
        </p:nvPicPr>
        <p:blipFill>
          <a:blip r:embed="rId1"/>
          <a:stretch/>
        </p:blipFill>
        <p:spPr>
          <a:xfrm>
            <a:off x="323640" y="1124640"/>
            <a:ext cx="7982280" cy="41032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Picture 2_7" descr=""/>
          <p:cNvPicPr/>
          <p:nvPr/>
        </p:nvPicPr>
        <p:blipFill>
          <a:blip r:embed="rId1"/>
          <a:stretch/>
        </p:blipFill>
        <p:spPr>
          <a:xfrm>
            <a:off x="230760" y="980640"/>
            <a:ext cx="8444160" cy="47757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27378</TotalTime>
  <Application>LibreOffice/6.4.7.2$Linux_X86_64 LibreOffice_project/40$Build-2</Application>
  <Words>1048</Words>
  <Paragraphs>138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2019-12-08T11:49:48Z</dcterms:created>
  <dc:creator>Зульфира</dc:creator>
  <dc:description/>
  <dc:language>ru-RU</dc:language>
  <cp:lastModifiedBy/>
  <dcterms:modified xsi:type="dcterms:W3CDTF">2025-09-03T14:04:51Z</dcterms:modified>
  <cp:revision>50</cp:revision>
  <dc:subject/>
  <dc:title>Математические основы машинного обучения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Notes">
    <vt:i4>1</vt:i4>
  </property>
  <property fmtid="{D5CDD505-2E9C-101B-9397-08002B2CF9AE}" pid="4" name="PresentationFormat">
    <vt:lpwstr>Экран (4:3)</vt:lpwstr>
  </property>
  <property fmtid="{D5CDD505-2E9C-101B-9397-08002B2CF9AE}" pid="5" name="Slides">
    <vt:i4>76</vt:i4>
  </property>
</Properties>
</file>